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205ab978904152" /><Relationship Type="http://schemas.openxmlformats.org/officeDocument/2006/relationships/extended-properties" Target="/docProps/app.xml" Id="R778adf0963a34c73" /><Relationship Type="http://schemas.openxmlformats.org/officeDocument/2006/relationships/officeDocument" Target="/ppt/presentation.xml" Id="R52803d73642e46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4d2bee6eed495a"/>
  </p:sldMasterIdLst>
  <p:notesMasterIdLst>
    <p:notesMasterId xmlns:r="http://schemas.openxmlformats.org/officeDocument/2006/relationships" r:id="R2d564eed44fb4014"/>
  </p:notesMasterIdLst>
  <p:sldIdLst>
    <p:sldId xmlns:r="http://schemas.openxmlformats.org/officeDocument/2006/relationships" id="256" r:id="R74aa2ab38afd44db"/>
    <p:sldId xmlns:r="http://schemas.openxmlformats.org/officeDocument/2006/relationships" id="257" r:id="R89dfe2a87f764f1f"/>
    <p:sldId xmlns:r="http://schemas.openxmlformats.org/officeDocument/2006/relationships" id="258" r:id="Rb4fd5a91fa424cf1"/>
    <p:sldId xmlns:r="http://schemas.openxmlformats.org/officeDocument/2006/relationships" id="259" r:id="R71ff3a1d3c2d4fc9"/>
    <p:sldId xmlns:r="http://schemas.openxmlformats.org/officeDocument/2006/relationships" id="260" r:id="R5d2fb563483745b7"/>
    <p:sldId xmlns:r="http://schemas.openxmlformats.org/officeDocument/2006/relationships" id="261" r:id="Rd6bdd559efd4474c"/>
    <p:sldId xmlns:r="http://schemas.openxmlformats.org/officeDocument/2006/relationships" id="262" r:id="R536e7627c7aa4494"/>
    <p:sldId xmlns:r="http://schemas.openxmlformats.org/officeDocument/2006/relationships" id="263" r:id="Rb9d28e1bc0c14dc3"/>
    <p:sldId xmlns:r="http://schemas.openxmlformats.org/officeDocument/2006/relationships" id="264" r:id="R55f995e128b54ea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7b54e458b647c1" /><Relationship Type="http://schemas.openxmlformats.org/officeDocument/2006/relationships/slideMaster" Target="/ppt/slideMasters/slideMaster1.xml" Id="R174d2bee6eed495a" /><Relationship Type="http://schemas.openxmlformats.org/officeDocument/2006/relationships/notesMaster" Target="/ppt/notesMasters/notesMaster1.xml" Id="R2d564eed44fb4014" /><Relationship Type="http://schemas.openxmlformats.org/officeDocument/2006/relationships/presProps" Target="/ppt/presProps.xml" Id="Rfcdc0d40b0404979" /><Relationship Type="http://schemas.openxmlformats.org/officeDocument/2006/relationships/tableStyles" Target="/ppt/tableStyles.xml" Id="R350e67071c5b4f10" /><Relationship Type="http://schemas.openxmlformats.org/officeDocument/2006/relationships/slide" Target="/ppt/slides/slide1.xml" Id="R74aa2ab38afd44db" /><Relationship Type="http://schemas.openxmlformats.org/officeDocument/2006/relationships/slide" Target="/ppt/slides/slide2.xml" Id="R89dfe2a87f764f1f" /><Relationship Type="http://schemas.openxmlformats.org/officeDocument/2006/relationships/slide" Target="/ppt/slides/slide3.xml" Id="Rb4fd5a91fa424cf1" /><Relationship Type="http://schemas.openxmlformats.org/officeDocument/2006/relationships/slide" Target="/ppt/slides/slide4.xml" Id="R71ff3a1d3c2d4fc9" /><Relationship Type="http://schemas.openxmlformats.org/officeDocument/2006/relationships/slide" Target="/ppt/slides/slide5.xml" Id="R5d2fb563483745b7" /><Relationship Type="http://schemas.openxmlformats.org/officeDocument/2006/relationships/slide" Target="/ppt/slides/slide6.xml" Id="Rd6bdd559efd4474c" /><Relationship Type="http://schemas.openxmlformats.org/officeDocument/2006/relationships/slide" Target="/ppt/slides/slide7.xml" Id="R536e7627c7aa4494" /><Relationship Type="http://schemas.openxmlformats.org/officeDocument/2006/relationships/slide" Target="/ppt/slides/slide8.xml" Id="Rb9d28e1bc0c14dc3" /><Relationship Type="http://schemas.openxmlformats.org/officeDocument/2006/relationships/slide" Target="/ppt/slides/slide9.xml" Id="R55f995e128b54e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b167b4b61744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3d2cc23e254de2" /><Relationship Type="http://schemas.openxmlformats.org/officeDocument/2006/relationships/notesMaster" Target="/ppt/notesMasters/notesMaster1.xml" Id="R5484677f4bb946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df6aa6401045ad" /><Relationship Type="http://schemas.openxmlformats.org/officeDocument/2006/relationships/notesMaster" Target="/ppt/notesMasters/notesMaster1.xml" Id="R1cc3507777164a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0a08565ee2410f" /><Relationship Type="http://schemas.openxmlformats.org/officeDocument/2006/relationships/notesMaster" Target="/ppt/notesMasters/notesMaster1.xml" Id="R450843047f0543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f0bd1faa5d441e" /><Relationship Type="http://schemas.openxmlformats.org/officeDocument/2006/relationships/notesMaster" Target="/ppt/notesMasters/notesMaster1.xml" Id="Rd28568abd2db47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a924e2375b420b" /><Relationship Type="http://schemas.openxmlformats.org/officeDocument/2006/relationships/notesMaster" Target="/ppt/notesMasters/notesMaster1.xml" Id="R22620e640db047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b2963e3bc74ebc" /><Relationship Type="http://schemas.openxmlformats.org/officeDocument/2006/relationships/notesMaster" Target="/ppt/notesMasters/notesMaster1.xml" Id="Ra99692a517a744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af641e0bff47f6" /><Relationship Type="http://schemas.openxmlformats.org/officeDocument/2006/relationships/notesMaster" Target="/ppt/notesMasters/notesMaster1.xml" Id="R498709a6f02a4a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450ca64b4d4417" /><Relationship Type="http://schemas.openxmlformats.org/officeDocument/2006/relationships/notesMaster" Target="/ppt/notesMasters/notesMaster1.xml" Id="R681bca5c802e42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d99bb48b5a4da2" /><Relationship Type="http://schemas.openxmlformats.org/officeDocument/2006/relationships/notesMaster" Target="/ppt/notesMasters/notesMaster1.xml" Id="R0512fb94e3404e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dc074fd5a642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7eb83555e240b2" /><Relationship Type="http://schemas.openxmlformats.org/officeDocument/2006/relationships/slideLayout" Target="/ppt/slideLayouts/slideLayout1.xml" Id="R388fda235fd347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8fda235fd347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6fea83d514f1e" /><Relationship Type="http://schemas.openxmlformats.org/officeDocument/2006/relationships/notesSlide" Target="/ppt/notesSlides/notesSlide1.xml" Id="Rb59d6927837446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b21bcf9ab438d" /><Relationship Type="http://schemas.openxmlformats.org/officeDocument/2006/relationships/notesSlide" Target="/ppt/notesSlides/notesSlide2.xml" Id="Rf73730d531ec44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cbbc450684aab" /><Relationship Type="http://schemas.openxmlformats.org/officeDocument/2006/relationships/notesSlide" Target="/ppt/notesSlides/notesSlide3.xml" Id="R7f5ac4b67ebf47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ae69dd1644165" /><Relationship Type="http://schemas.openxmlformats.org/officeDocument/2006/relationships/notesSlide" Target="/ppt/notesSlides/notesSlide4.xml" Id="Rfe3c4d7aa32241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c44dd92094e0b" /><Relationship Type="http://schemas.openxmlformats.org/officeDocument/2006/relationships/notesSlide" Target="/ppt/notesSlides/notesSlide5.xml" Id="R4e80e9f7e6bd4e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63d1200c049cf" /><Relationship Type="http://schemas.openxmlformats.org/officeDocument/2006/relationships/notesSlide" Target="/ppt/notesSlides/notesSlide6.xml" Id="R4759e89eda3641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087c3931443e5" /><Relationship Type="http://schemas.openxmlformats.org/officeDocument/2006/relationships/notesSlide" Target="/ppt/notesSlides/notesSlide7.xml" Id="R637d55f447654d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ff2d2c5f9432c" /><Relationship Type="http://schemas.openxmlformats.org/officeDocument/2006/relationships/notesSlide" Target="/ppt/notesSlides/notesSlide8.xml" Id="R098f2a2e1b6146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3109b5aaf43fc" /><Relationship Type="http://schemas.openxmlformats.org/officeDocument/2006/relationships/notesSlide" Target="/ppt/notesSlides/notesSlide9.xml" Id="Rcd910097886146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E2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56BB68-0BA6-4588-A46B-7334DBAC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2385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6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CD4A4B-2863-482A-AF03-CA567CED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E282A"/>
                </a:solidFill>
              </a:defRPr>
            </a:pPr>
            <a:r>
              <a:rPr sz="1125" b="1" i="0">
                <a:solidFill>
                  <a:srgbClr val="2E282A"/>
                </a:solidFill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BAFBE-9788-4292-BE17-C23E589F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F6F7F6"/>
                </a:solidFill>
              </a:defRPr>
            </a:pPr>
            <a:r>
              <a:rPr sz="4650" b="1" i="0">
                <a:solidFill>
                  <a:srgbClr val="F6F7F6"/>
                </a:solidFill>
              </a:rPr>
              <a:t>PRIORITY:ONE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09CE9-6A6F-4857-B43B-B60E29C7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288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81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8BA26-0EB0-44DE-AF8F-79791E5B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14625"/>
            <a:ext cx="781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D9D7D1"/>
                </a:solidFill>
              </a:defRPr>
            </a:pPr>
            <a:r>
              <a:rPr sz="2100" b="0" i="0">
                <a:solidFill>
                  <a:srgbClr val="D9D7D1"/>
                </a:solidFill>
              </a:rPr>
              <a:t>An agentic AI scheduler that keeps students a day ahead of every deadline—and never lets them face it alone.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90D61-6B79-43A8-80C3-278BF236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581B8"/>
                </a:solidFill>
              </a:defRPr>
            </a:pPr>
            <a:r>
              <a:rPr sz="1275" b="1" i="0">
                <a:solidFill>
                  <a:srgbClr val="3581B8"/>
                </a:solidFill>
              </a:rPr>
              <a:t>A DAY AHEAD, ALWAYS.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C30593-C87E-47E7-9697-C7A3A9F5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9053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9A5A0"/>
                </a:solidFill>
              </a:defRPr>
            </a:pPr>
            <a:r>
              <a:rPr sz="1050" b="0" i="0">
                <a:solidFill>
                  <a:srgbClr val="A9A5A0"/>
                </a:solidFill>
              </a:rPr>
              <a:t>Made by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FC9213-29F9-4BFE-A2DD-5B76303F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2387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6F7F6"/>
                </a:solidFill>
              </a:defRPr>
            </a:pPr>
            <a:r>
              <a:rPr sz="1800" b="1" i="0">
                <a:solidFill>
                  <a:srgbClr val="F6F7F6"/>
                </a:solidFill>
              </a:rPr>
              <a:t>Tarun Devarajan</a:t>
            </a:r>
          </a:p>
          <a:p xmlns:a="http://schemas.openxmlformats.org/drawingml/2006/main">
            <a:pPr algn="l">
              <a:defRPr sz="1800" b="1" i="0">
                <a:solidFill>
                  <a:srgbClr val="F6F7F6"/>
                </a:solidFill>
              </a:defRPr>
            </a:pPr>
            <a:r>
              <a:rPr sz="1800" b="1" i="0">
                <a:solidFill>
                  <a:srgbClr val="F6F7F6"/>
                </a:solidFill>
              </a:rPr>
              <a:t>Jovanny Shek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5BAE0-7259-4140-B66B-638B6606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782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55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456320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0E2D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BED250-E2DA-4EC1-8407-E5AFB30F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6F7F6"/>
                </a:solidFill>
              </a:defRPr>
            </a:pPr>
            <a:r>
              <a:rPr sz="975" b="1" i="0">
                <a:solidFill>
                  <a:srgbClr val="F6F7F6"/>
                </a:solidFill>
              </a:rPr>
              <a:t>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585E6-FF88-4843-9AC6-48CFCCA3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05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BDD06-67D5-42BA-834D-9E848125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E282A"/>
                </a:solidFill>
              </a:defRPr>
            </a:pPr>
            <a:r>
              <a:rPr sz="1350" b="1" i="0">
                <a:solidFill>
                  <a:srgbClr val="2E282A"/>
                </a:solidFill>
              </a:rPr>
              <a:t>Priority:One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7626D-5A9C-4E51-8BF0-011A80F1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C6265"/>
                </a:solidFill>
              </a:defRPr>
            </a:pPr>
            <a:r>
              <a:rPr sz="825" b="0" i="0">
                <a:solidFill>
                  <a:srgbClr val="6C6265"/>
                </a:solidFill>
              </a:rPr>
              <a:t>01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C03A4-C5AB-4467-A62C-63143C08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6DB953-1AE8-4399-94FD-EA322C58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Hook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0E568-EEE7-4CEC-A3B6-39E55324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4E950-9C78-46E1-B1C4-72D36AED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271FAF-37E1-48C7-9314-EDB06543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59A3B6-9488-4986-B8A3-A2155EE9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Connect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E2B38-C307-4543-BB60-BE910D33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4E285-2167-4F2B-870D-210EA9AA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FB917C-0A6F-4CF9-A1EC-D0A64F39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34044E-66A7-4B5E-A52E-0FB53893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Replan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BFD3CA-1623-4354-8589-400DA48F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02FA1D-8142-4F4B-93CA-D5260C4E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Vachan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0686D7-70EB-44F7-B5E2-4ABCD10E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80950B-A782-4264-B205-F6D057F8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Future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808A37-46AA-4244-862B-50B1DF2A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5BCD73-FB43-4947-AE65-F36612E9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Demo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36A67D-FCD3-426A-9138-2BBD7C7A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0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5D95"/>
                </a:solidFill>
              </a:defRPr>
            </a:pPr>
            <a:r>
              <a:rPr sz="1125" b="1" i="0">
                <a:solidFill>
                  <a:srgbClr val="005D95"/>
                </a:solidFill>
              </a:rPr>
              <a:t>Life moved first.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ED36B6-B599-40F7-B163-893E97DB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3524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0" i="0">
                <a:solidFill>
                  <a:srgbClr val="2E282A"/>
                </a:solidFill>
              </a:defRPr>
            </a:pPr>
            <a:r>
              <a:rPr sz="4050" b="0" i="0">
                <a:solidFill>
                  <a:srgbClr val="2E282A"/>
                </a:solidFill>
              </a:rPr>
              <a:t>Your calendar</a:t>
            </a:r>
          </a:p>
          <a:p xmlns:a="http://schemas.openxmlformats.org/drawingml/2006/main">
            <a:pPr algn="l">
              <a:defRPr sz="4050" b="0" i="0">
                <a:solidFill>
                  <a:srgbClr val="2E282A"/>
                </a:solidFill>
              </a:defRPr>
            </a:pPr>
            <a:r>
              <a:rPr sz="4050" b="0" i="0">
                <a:solidFill>
                  <a:srgbClr val="2E282A"/>
                </a:solidFill>
              </a:rPr>
              <a:t>just changed.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55081A-B93E-4074-85CB-45E92ED9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3524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0" i="1">
                <a:solidFill>
                  <a:srgbClr val="005D95"/>
                </a:solidFill>
              </a:defRPr>
            </a:pPr>
            <a:r>
              <a:rPr sz="4050" b="0" i="1">
                <a:solidFill>
                  <a:srgbClr val="005D95"/>
                </a:solidFill>
              </a:rPr>
              <a:t>Your plan</a:t>
            </a:r>
          </a:p>
          <a:p xmlns:a="http://schemas.openxmlformats.org/drawingml/2006/main">
            <a:pPr algn="l">
              <a:defRPr sz="4050" b="0" i="1">
                <a:solidFill>
                  <a:srgbClr val="005D95"/>
                </a:solidFill>
              </a:defRPr>
            </a:pPr>
            <a:r>
              <a:rPr sz="4050" b="0" i="1">
                <a:solidFill>
                  <a:srgbClr val="005D95"/>
                </a:solidFill>
              </a:rPr>
              <a:t>already did.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58D4E2-F151-4BC3-8A00-7C670193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C6265"/>
                </a:solidFill>
              </a:defRPr>
            </a:pPr>
            <a:r>
              <a:rPr sz="1500" b="0" i="0">
                <a:solidFill>
                  <a:srgbClr val="6C6265"/>
                </a:solidFill>
              </a:rPr>
              <a:t>Priority:One rebuilds the week around real life—without sacrificing sleep, school, or the one-day buffer.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00EEF3-5267-4CE0-8F53-9D842495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123950"/>
            <a:ext cx="733425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6F7F6"/>
          </a:solidFill>
          <a:ln xmlns:a="http://schemas.openxmlformats.org/drawingml/2006/main" w="9525">
            <a:solidFill>
              <a:srgbClr val="B9BDB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13E9EA-9567-46A2-B7F1-35A3B4E6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257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E282A"/>
                </a:solidFill>
              </a:defRPr>
            </a:pPr>
            <a:r>
              <a:rPr sz="1350" b="1" i="0">
                <a:solidFill>
                  <a:srgbClr val="2E282A"/>
                </a:solidFill>
              </a:rPr>
              <a:t>This week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312675-63C2-4F0C-90E9-DDDC99B8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2763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C6265"/>
                </a:solidFill>
              </a:defRPr>
            </a:pPr>
            <a:r>
              <a:rPr sz="900" b="0" i="0">
                <a:solidFill>
                  <a:srgbClr val="6C6265"/>
                </a:solidFill>
              </a:rPr>
              <a:t>Replanned automatically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E96C17-C536-42CA-8C76-D7B3E147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28750"/>
            <a:ext cx="1184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MON 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033796-CDE9-4E32-8552-5E43F1E1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4825" y="1428750"/>
            <a:ext cx="1184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TUE 11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25B0FC-354D-4065-B682-635D55F1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1428750"/>
            <a:ext cx="1184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WED 12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633EA7-5D99-4469-9984-E899C531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28750"/>
            <a:ext cx="1184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THU 13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145910-5D02-4C95-9834-A0EFC709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650" y="1428750"/>
            <a:ext cx="1184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FRI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4E4108-41C2-48C7-9744-CEC5C52E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1925" y="1428750"/>
            <a:ext cx="1184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SAT 15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BAE918-CFE6-4974-974C-2D22E166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38300"/>
            <a:ext cx="9525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1381CB-2EA1-4153-A5D1-C4E8799F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4825" y="1638300"/>
            <a:ext cx="9525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BD3057-474A-4547-838C-7B1511D9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1638300"/>
            <a:ext cx="9525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C57432-1A14-45A0-9DCB-80866250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38300"/>
            <a:ext cx="9525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AAA625-BED9-4CB4-B863-91C25437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7650" y="1638300"/>
            <a:ext cx="9525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AABB7C-EBFA-4614-B66C-4F87AA70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1925" y="1638300"/>
            <a:ext cx="9525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FD75CA-C10A-4F6F-999F-CFD00A69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1638300"/>
            <a:ext cx="9525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50026C-2501-4BB7-8053-FB1FAB67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38300"/>
            <a:ext cx="710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EDE97C-6C71-457C-A492-3C685CED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63775"/>
            <a:ext cx="710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D0415F-859E-4B96-B721-DE766E8E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89250"/>
            <a:ext cx="710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533615-D6F6-49A4-A4ED-BD41E4FD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14725"/>
            <a:ext cx="710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384A25-F35E-4F9B-BF59-87CB3686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40200"/>
            <a:ext cx="710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70D286-CB99-450B-B940-3681578C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65675"/>
            <a:ext cx="710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D6080E5-2F6F-495A-AD5B-D5410ECA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391150"/>
            <a:ext cx="710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6B65B8-0740-4802-B686-E3ABD8A8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95450"/>
            <a:ext cx="1069975" cy="1136650"/>
          </a:xfrm>
          <a:prstGeom xmlns:a="http://schemas.openxmlformats.org/drawingml/2006/main" prst="roundRect">
            <a:avLst>
              <a:gd name="adj" fmla="val 1780"/>
            </a:avLst>
          </a:prstGeom>
          <a:solidFill xmlns:a="http://schemas.openxmlformats.org/drawingml/2006/main">
            <a:srgbClr val="D5D6D0"/>
          </a:solidFill>
          <a:ln xmlns:a="http://schemas.openxmlformats.org/drawingml/2006/main" w="9525">
            <a:solidFill>
              <a:srgbClr val="3581B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FBE0CD2-D9C3-4A87-A0B2-683D210D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52600"/>
            <a:ext cx="955675" cy="104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005D95"/>
                </a:solidFill>
              </a:defRPr>
            </a:pPr>
            <a:r>
              <a:rPr sz="750" b="0" i="0">
                <a:solidFill>
                  <a:srgbClr val="005D95"/>
                </a:solidFill>
              </a:rPr>
              <a:t>School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C6A08C4-4BF7-4432-9C4B-39DF5233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975" y="1695450"/>
            <a:ext cx="1069975" cy="1136650"/>
          </a:xfrm>
          <a:prstGeom xmlns:a="http://schemas.openxmlformats.org/drawingml/2006/main" prst="roundRect">
            <a:avLst>
              <a:gd name="adj" fmla="val 1780"/>
            </a:avLst>
          </a:prstGeom>
          <a:solidFill xmlns:a="http://schemas.openxmlformats.org/drawingml/2006/main">
            <a:srgbClr val="D5D6D0"/>
          </a:solidFill>
          <a:ln xmlns:a="http://schemas.openxmlformats.org/drawingml/2006/main" w="9525">
            <a:solidFill>
              <a:srgbClr val="3581B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B30451-2FE8-44CC-A117-EB25EB67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125" y="1752600"/>
            <a:ext cx="955675" cy="104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005D95"/>
                </a:solidFill>
              </a:defRPr>
            </a:pPr>
            <a:r>
              <a:rPr sz="750" b="0" i="0">
                <a:solidFill>
                  <a:srgbClr val="005D95"/>
                </a:solidFill>
              </a:rPr>
              <a:t>School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AC9FFD7-C9C1-47B8-969F-0EC55DD8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250" y="1695450"/>
            <a:ext cx="1069975" cy="1136650"/>
          </a:xfrm>
          <a:prstGeom xmlns:a="http://schemas.openxmlformats.org/drawingml/2006/main" prst="roundRect">
            <a:avLst>
              <a:gd name="adj" fmla="val 1780"/>
            </a:avLst>
          </a:prstGeom>
          <a:solidFill xmlns:a="http://schemas.openxmlformats.org/drawingml/2006/main">
            <a:srgbClr val="D5D6D0"/>
          </a:solidFill>
          <a:ln xmlns:a="http://schemas.openxmlformats.org/drawingml/2006/main" w="9525">
            <a:solidFill>
              <a:srgbClr val="3581B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7AAC48B-B06C-493B-A607-6F55A56E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400" y="1752600"/>
            <a:ext cx="955675" cy="104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005D95"/>
                </a:solidFill>
              </a:defRPr>
            </a:pPr>
            <a:r>
              <a:rPr sz="750" b="0" i="0">
                <a:solidFill>
                  <a:srgbClr val="005D95"/>
                </a:solidFill>
              </a:rPr>
              <a:t>School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F54834E-8D2E-4404-AC07-7EC74E4F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695450"/>
            <a:ext cx="1069975" cy="1136650"/>
          </a:xfrm>
          <a:prstGeom xmlns:a="http://schemas.openxmlformats.org/drawingml/2006/main" prst="roundRect">
            <a:avLst>
              <a:gd name="adj" fmla="val 1780"/>
            </a:avLst>
          </a:prstGeom>
          <a:solidFill xmlns:a="http://schemas.openxmlformats.org/drawingml/2006/main">
            <a:srgbClr val="D5D6D0"/>
          </a:solidFill>
          <a:ln xmlns:a="http://schemas.openxmlformats.org/drawingml/2006/main" w="9525">
            <a:solidFill>
              <a:srgbClr val="3581B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9B4E1A9-8BD8-4B81-A6CD-39444125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752600"/>
            <a:ext cx="955675" cy="104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005D95"/>
                </a:solidFill>
              </a:defRPr>
            </a:pPr>
            <a:r>
              <a:rPr sz="750" b="0" i="0">
                <a:solidFill>
                  <a:srgbClr val="005D95"/>
                </a:solidFill>
              </a:rPr>
              <a:t>School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FF65258-DD20-49AE-BF6D-D208C549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1695450"/>
            <a:ext cx="1069975" cy="1136650"/>
          </a:xfrm>
          <a:prstGeom xmlns:a="http://schemas.openxmlformats.org/drawingml/2006/main" prst="roundRect">
            <a:avLst>
              <a:gd name="adj" fmla="val 1780"/>
            </a:avLst>
          </a:prstGeom>
          <a:solidFill xmlns:a="http://schemas.openxmlformats.org/drawingml/2006/main">
            <a:srgbClr val="D5D6D0"/>
          </a:solidFill>
          <a:ln xmlns:a="http://schemas.openxmlformats.org/drawingml/2006/main" w="9525">
            <a:solidFill>
              <a:srgbClr val="3581B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C1EF20B-480C-4FF7-8163-EA81CB3D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1950" y="1752600"/>
            <a:ext cx="955675" cy="104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005D95"/>
                </a:solidFill>
              </a:defRPr>
            </a:pPr>
            <a:r>
              <a:rPr sz="750" b="0" i="0">
                <a:solidFill>
                  <a:srgbClr val="005D95"/>
                </a:solidFill>
              </a:rPr>
              <a:t>School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80ECCC1-7BA9-4F7B-B78E-293E97E0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71875"/>
            <a:ext cx="1069975" cy="511175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E5F1F8"/>
          </a:solidFill>
          <a:ln xmlns:a="http://schemas.openxmlformats.org/drawingml/2006/main" w="9525">
            <a:solidFill>
              <a:srgbClr val="3581B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B68D4AA-BF47-4823-A812-B1C91922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29025"/>
            <a:ext cx="955675" cy="41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05D95"/>
                </a:solidFill>
              </a:defRPr>
            </a:pPr>
            <a:r>
              <a:rPr sz="750" b="1" i="0">
                <a:solidFill>
                  <a:srgbClr val="005D95"/>
                </a:solidFill>
              </a:rPr>
              <a:t>Chem lab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67A7EF1-F832-4848-A183-DCA86749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975" y="4197350"/>
            <a:ext cx="1069975" cy="511175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E5F1F8"/>
          </a:solidFill>
          <a:ln xmlns:a="http://schemas.openxmlformats.org/drawingml/2006/main" w="9525">
            <a:solidFill>
              <a:srgbClr val="3581B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577AC39-EE0E-44AA-8C12-6B01833F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125" y="4254500"/>
            <a:ext cx="955675" cy="41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05D95"/>
                </a:solidFill>
              </a:defRPr>
            </a:pPr>
            <a:r>
              <a:rPr sz="750" b="1" i="0">
                <a:solidFill>
                  <a:srgbClr val="005D95"/>
                </a:solidFill>
              </a:rPr>
              <a:t>Essay draft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DB2467C-6F9D-4B34-895A-12F58495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250" y="3571875"/>
            <a:ext cx="1069975" cy="511175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E5F1F8"/>
          </a:solidFill>
          <a:ln xmlns:a="http://schemas.openxmlformats.org/drawingml/2006/main" w="9525">
            <a:solidFill>
              <a:srgbClr val="3581B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E874D16-042F-4EF8-8AFD-4A85D87F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400" y="3629025"/>
            <a:ext cx="955675" cy="41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05D95"/>
                </a:solidFill>
              </a:defRPr>
            </a:pPr>
            <a:r>
              <a:rPr sz="750" b="1" i="0">
                <a:solidFill>
                  <a:srgbClr val="005D95"/>
                </a:solidFill>
              </a:rPr>
              <a:t>Calculus set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39B1EE7-402C-44E7-A6D5-9A54353E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571875"/>
            <a:ext cx="1069975" cy="511175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CE8E5"/>
          </a:solidFill>
          <a:ln xmlns:a="http://schemas.openxmlformats.org/drawingml/2006/main" w="9525">
            <a:solidFill>
              <a:srgbClr val="CC3529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6C9782D-6299-4E0E-A819-78AF45AA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629025"/>
            <a:ext cx="955675" cy="41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CC3529"/>
                </a:solidFill>
              </a:defRPr>
            </a:pPr>
            <a:r>
              <a:rPr sz="750" b="1" i="0">
                <a:solidFill>
                  <a:srgbClr val="CC3529"/>
                </a:solidFill>
              </a:rPr>
              <a:t>Dentist · 3 PM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A993585-6A72-421C-A83E-B51DB717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822825"/>
            <a:ext cx="1069975" cy="511175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E5F1F8"/>
          </a:solidFill>
          <a:ln xmlns:a="http://schemas.openxmlformats.org/drawingml/2006/main" w="9525">
            <a:solidFill>
              <a:srgbClr val="3581B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74144C3-C352-4ABB-A636-5F2CFBDE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879975"/>
            <a:ext cx="955675" cy="41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05D95"/>
                </a:solidFill>
              </a:defRPr>
            </a:pPr>
            <a:r>
              <a:rPr sz="750" b="1" i="0">
                <a:solidFill>
                  <a:srgbClr val="005D95"/>
                </a:solidFill>
              </a:rPr>
              <a:t>Essay draft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87E3385-8082-49BE-8270-790EC1DF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4197350"/>
            <a:ext cx="1069975" cy="511175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E5F1F8"/>
          </a:solidFill>
          <a:ln xmlns:a="http://schemas.openxmlformats.org/drawingml/2006/main" w="9525">
            <a:solidFill>
              <a:srgbClr val="3581B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1D956A3-02C9-4269-8BD4-B09EE56E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1950" y="4254500"/>
            <a:ext cx="955675" cy="41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05D95"/>
                </a:solidFill>
              </a:defRPr>
            </a:pPr>
            <a:r>
              <a:rPr sz="750" b="1" i="0">
                <a:solidFill>
                  <a:srgbClr val="005D95"/>
                </a:solidFill>
              </a:rPr>
              <a:t>Weekly review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F0C5B31-1E66-4164-A3E7-4F0E173D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9075" y="3571875"/>
            <a:ext cx="1069975" cy="1136650"/>
          </a:xfrm>
          <a:prstGeom xmlns:a="http://schemas.openxmlformats.org/drawingml/2006/main" prst="roundRect">
            <a:avLst>
              <a:gd name="adj" fmla="val 1780"/>
            </a:avLst>
          </a:prstGeom>
          <a:solidFill xmlns:a="http://schemas.openxmlformats.org/drawingml/2006/main">
            <a:srgbClr val="E5F1F8"/>
          </a:solidFill>
          <a:ln xmlns:a="http://schemas.openxmlformats.org/drawingml/2006/main" w="9525">
            <a:solidFill>
              <a:srgbClr val="3581B8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8C4D745-F793-479C-B7E3-D35CF3CE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6225" y="3629025"/>
            <a:ext cx="955675" cy="104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05D95"/>
                </a:solidFill>
              </a:defRPr>
            </a:pPr>
            <a:r>
              <a:rPr sz="750" b="1" i="0">
                <a:solidFill>
                  <a:srgbClr val="005D95"/>
                </a:solidFill>
              </a:rPr>
              <a:t>One-day buffer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1307EAB-C6E7-4940-A2AA-FB2D5A1E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600700"/>
            <a:ext cx="699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C6265"/>
                </a:solidFill>
              </a:defRPr>
            </a:pPr>
            <a:r>
              <a:rPr sz="825" b="0" i="0">
                <a:solidFill>
                  <a:srgbClr val="6C6265"/>
                </a:solidFill>
              </a:rPr>
              <a:t>Sleep protected     School protected     Due one day early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46C6DF0-D394-408F-BDAA-BC858DFE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19150"/>
            <a:ext cx="3333750" cy="47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E2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723F5B7-AC21-4FC7-9CC1-B5B70FAB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525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6F7F6"/>
                </a:solidFill>
              </a:defRPr>
            </a:pPr>
            <a:r>
              <a:rPr sz="975" b="1" i="0">
                <a:solidFill>
                  <a:srgbClr val="F6F7F6"/>
                </a:solidFill>
              </a:rPr>
              <a:t>Calendar change detected · Resolved</a:t>
            </a:r>
          </a:p>
        </p:txBody>
      </p:sp>
    </p:spTree>
    <p:extLst>
      <p:ext uri="{BB962C8B-B14F-4D97-AF65-F5344CB8AC3E}">
        <p14:creationId xmlns:p14="http://schemas.microsoft.com/office/powerpoint/2010/main" val="13982138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E2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03A801-5F6F-40B4-8F3F-7A4A7B9B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E282A"/>
                </a:solidFill>
              </a:defRPr>
            </a:pPr>
            <a:r>
              <a:rPr sz="975" b="1" i="0">
                <a:solidFill>
                  <a:srgbClr val="2E282A"/>
                </a:solidFill>
              </a:rPr>
              <a:t>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2CF61-F3FB-4283-A915-A08C677F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6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4A1C0-F445-45DD-AF33-38F2D7D4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6F7F6"/>
                </a:solidFill>
              </a:defRPr>
            </a:pPr>
            <a:r>
              <a:rPr sz="1350" b="1" i="0">
                <a:solidFill>
                  <a:srgbClr val="F6F7F6"/>
                </a:solidFill>
              </a:rPr>
              <a:t>Priority:One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D162F8-9AB2-45E5-9601-7DD18268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D8D7D0"/>
                </a:solidFill>
              </a:defRPr>
            </a:pPr>
            <a:r>
              <a:rPr sz="825" b="0" i="0">
                <a:solidFill>
                  <a:srgbClr val="D8D7D0"/>
                </a:solidFill>
              </a:rPr>
              <a:t>02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035D0D-DC6B-416C-9E49-11D63A30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5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B82702-3FEA-40D0-B47C-1DA0AB67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C6C3BE"/>
                </a:solidFill>
              </a:defRPr>
            </a:pPr>
            <a:r>
              <a:rPr sz="675" b="0" i="0">
                <a:solidFill>
                  <a:srgbClr val="C6C3BE"/>
                </a:solidFill>
              </a:rPr>
              <a:t>Hook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093E1-3A0F-4D63-A09B-DD09FCEC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B8F1F-CC7D-4A1A-AC1C-CA0412D9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C6C3BE"/>
                </a:solidFill>
              </a:defRPr>
            </a:pPr>
            <a:r>
              <a:rPr sz="675" b="0" i="0">
                <a:solidFill>
                  <a:srgbClr val="C6C3BE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3CC4AB-8860-4900-9EBA-7EC94455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5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D05B60-3C1C-440B-85A9-6FF46078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C6C3BE"/>
                </a:solidFill>
              </a:defRPr>
            </a:pPr>
            <a:r>
              <a:rPr sz="675" b="0" i="0">
                <a:solidFill>
                  <a:srgbClr val="C6C3BE"/>
                </a:solidFill>
              </a:rPr>
              <a:t>Connect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F7927-EE0C-40C4-8B9C-9BFB3A20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5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8B0697-AA6D-49E8-BE49-3D05D6BE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C6C3BE"/>
                </a:solidFill>
              </a:defRPr>
            </a:pPr>
            <a:r>
              <a:rPr sz="675" b="0" i="0">
                <a:solidFill>
                  <a:srgbClr val="C6C3BE"/>
                </a:solidFill>
              </a:rPr>
              <a:t>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AE3DB5-A754-4166-ADE4-587E8A8E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5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B867EF-0A0E-4002-9939-1F5945AB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C6C3BE"/>
                </a:solidFill>
              </a:defRPr>
            </a:pPr>
            <a:r>
              <a:rPr sz="675" b="0" i="0">
                <a:solidFill>
                  <a:srgbClr val="C6C3BE"/>
                </a:solidFill>
              </a:rPr>
              <a:t>Replan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F50E39-B714-48F8-8FC0-D9437F0F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5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5D23D3-BDAE-4630-ADF8-71A9B477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C6C3BE"/>
                </a:solidFill>
              </a:defRPr>
            </a:pPr>
            <a:r>
              <a:rPr sz="675" b="0" i="0">
                <a:solidFill>
                  <a:srgbClr val="C6C3BE"/>
                </a:solidFill>
              </a:rPr>
              <a:t>Vachan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5B1ED7-6406-46A1-9F06-31E6D201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5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D0A490-B2CE-4DCA-8606-912DBF20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C6C3BE"/>
                </a:solidFill>
              </a:defRPr>
            </a:pPr>
            <a:r>
              <a:rPr sz="675" b="0" i="0">
                <a:solidFill>
                  <a:srgbClr val="C6C3BE"/>
                </a:solidFill>
              </a:rPr>
              <a:t>Future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6CB266-703A-4994-97A1-D930D95E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5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5FFA1B-C424-4AF8-B483-A5E3DEC7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C6C3BE"/>
                </a:solidFill>
              </a:defRPr>
            </a:pPr>
            <a:r>
              <a:rPr sz="675" b="0" i="0">
                <a:solidFill>
                  <a:srgbClr val="C6C3BE"/>
                </a:solidFill>
              </a:rPr>
              <a:t>Demo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E5914E-0498-4594-997E-55DC5ACD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4095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950" b="0" i="0">
                <a:solidFill>
                  <a:srgbClr val="F6F7F6"/>
                </a:solidFill>
              </a:defRPr>
            </a:pPr>
            <a:r>
              <a:rPr sz="4950" b="0" i="0">
                <a:solidFill>
                  <a:srgbClr val="F6F7F6"/>
                </a:solidFill>
              </a:rPr>
              <a:t>Deadlines</a:t>
            </a:r>
          </a:p>
          <a:p xmlns:a="http://schemas.openxmlformats.org/drawingml/2006/main">
            <a:pPr algn="l">
              <a:defRPr sz="4950" b="0" i="0">
                <a:solidFill>
                  <a:srgbClr val="F6F7F6"/>
                </a:solidFill>
              </a:defRPr>
            </a:pPr>
            <a:r>
              <a:rPr sz="4950" b="0" i="0">
                <a:solidFill>
                  <a:srgbClr val="F6F7F6"/>
                </a:solidFill>
              </a:rPr>
              <a:t>aren’t</a:t>
            </a:r>
          </a:p>
          <a:p xmlns:a="http://schemas.openxmlformats.org/drawingml/2006/main">
            <a:pPr algn="l">
              <a:defRPr sz="4950" b="0" i="0">
                <a:solidFill>
                  <a:srgbClr val="F6F7F6"/>
                </a:solidFill>
              </a:defRPr>
            </a:pPr>
            <a:r>
              <a:rPr sz="4950" b="0" i="0">
                <a:solidFill>
                  <a:srgbClr val="F6F7F6"/>
                </a:solidFill>
              </a:rPr>
              <a:t>a plan.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FA8764-5F5E-422D-93D9-94821C16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D9D7D1"/>
                </a:solidFill>
              </a:defRPr>
            </a:pPr>
            <a:r>
              <a:rPr sz="1500" b="0" i="0">
                <a:solidFill>
                  <a:srgbClr val="D9D7D1"/>
                </a:solidFill>
              </a:rPr>
              <a:t>Classroom tells students what is due. It never tells them when to begin, what fits tonight, or what moves when life gets in the way.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5981E0-5156-412C-AFE2-2A33D938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40957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6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4AF49D-508C-4796-8201-2AE70AEC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525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E282A"/>
                </a:solidFill>
              </a:defRPr>
            </a:pPr>
            <a:r>
              <a:rPr sz="1275" b="1" i="0">
                <a:solidFill>
                  <a:srgbClr val="2E282A"/>
                </a:solidFill>
              </a:rPr>
              <a:t>Essay · Friday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173338-117A-4466-AEBF-E31DE7CC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05025"/>
            <a:ext cx="40957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6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9E96F0-5F6C-4523-B87E-513BBEB2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764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C3529"/>
                </a:solidFill>
              </a:defRPr>
            </a:pPr>
            <a:r>
              <a:rPr sz="1275" b="1" i="0">
                <a:solidFill>
                  <a:srgbClr val="CC3529"/>
                </a:solidFill>
              </a:rPr>
              <a:t>Lab report · Tomorrow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86AA67-0AC0-43A0-AE46-CA840872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28925"/>
            <a:ext cx="40957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6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B23ECE-E490-41CB-A6DB-060D93E4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003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E282A"/>
                </a:solidFill>
              </a:defRPr>
            </a:pPr>
            <a:r>
              <a:rPr sz="1275" b="1" i="0">
                <a:solidFill>
                  <a:srgbClr val="2E282A"/>
                </a:solidFill>
              </a:rPr>
              <a:t>Problem set · 11:59 PM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02E145-4CB7-4042-8357-6F6E95EB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52825"/>
            <a:ext cx="40957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6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F9E50F-FD3C-4C6C-8D5B-BB2C2B34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242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C3529"/>
                </a:solidFill>
              </a:defRPr>
            </a:pPr>
            <a:r>
              <a:rPr sz="1275" b="1" i="0">
                <a:solidFill>
                  <a:srgbClr val="CC3529"/>
                </a:solidFill>
              </a:rPr>
              <a:t>Reading quiz · Thursday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C94AC8-8183-443E-B21D-C6A48F7F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76725"/>
            <a:ext cx="40957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6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8D296F-5B13-436B-B6C7-D9B8EAD9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481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E282A"/>
                </a:solidFill>
              </a:defRPr>
            </a:pPr>
            <a:r>
              <a:rPr sz="1275" b="1" i="0">
                <a:solidFill>
                  <a:srgbClr val="2E282A"/>
                </a:solidFill>
              </a:rPr>
              <a:t>Group project · Sunday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ACE481-9353-4BC2-932B-433B51B7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340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D9D7D1"/>
                </a:solidFill>
              </a:defRPr>
            </a:pPr>
            <a:r>
              <a:rPr sz="1500" b="0" i="0">
                <a:solidFill>
                  <a:srgbClr val="D9D7D1"/>
                </a:solidFill>
              </a:rPr>
              <a:t>The problem isn’t effort. It’s that no tool turns deadlines into time.</a:t>
            </a:r>
          </a:p>
        </p:txBody>
      </p:sp>
    </p:spTree>
    <p:extLst>
      <p:ext uri="{BB962C8B-B14F-4D97-AF65-F5344CB8AC3E}">
        <p14:creationId xmlns:p14="http://schemas.microsoft.com/office/powerpoint/2010/main" val="8738677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0E2D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6F2716-5C13-43B0-86C9-C81389C1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6F7F6"/>
                </a:solidFill>
              </a:defRPr>
            </a:pPr>
            <a:r>
              <a:rPr sz="975" b="1" i="0">
                <a:solidFill>
                  <a:srgbClr val="F6F7F6"/>
                </a:solidFill>
              </a:rPr>
              <a:t>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7C926-6D0C-457D-812A-BF0B2819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05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6694A-0170-4176-BB44-FF8647F2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E282A"/>
                </a:solidFill>
              </a:defRPr>
            </a:pPr>
            <a:r>
              <a:rPr sz="1350" b="1" i="0">
                <a:solidFill>
                  <a:srgbClr val="2E282A"/>
                </a:solidFill>
              </a:rPr>
              <a:t>Priority:One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717D2-0644-48F2-94FC-A99FF58B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C6265"/>
                </a:solidFill>
              </a:defRPr>
            </a:pPr>
            <a:r>
              <a:rPr sz="825" b="0" i="0">
                <a:solidFill>
                  <a:srgbClr val="6C6265"/>
                </a:solidFill>
              </a:rPr>
              <a:t>03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A7AB3-EBD8-4B28-806D-F233A0D2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D7882E-213C-44D5-9010-7A41F80A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Hook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37AC7-9A73-4914-9FDB-11909050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BE27DE-C3A1-48E7-BA17-51F29FFA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E89A6-843F-4B23-ACA4-453D84AE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B762E-EA72-4F8C-AF61-08E571F2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Connect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8F2754-AC52-4EC5-8618-7C345A68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28DCFF-75E1-4C7E-B439-350E9682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4F37BD-9EBE-4FC5-AFB3-9935FEBE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EC43FE-E47C-4AF3-994D-7B86A87B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Replan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D10F0B-3E36-4197-AA03-FAC26677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CBDE2A-C6EF-4F15-824F-A192FEE6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Vachan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EE53FC-4AFF-4961-9480-5D1F9863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626A12-97B9-427A-BE19-95F33AB3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Future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8FB64D-9892-4181-A9AF-851CFB79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7E52E3-B504-4046-93DA-C5E65F48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Demo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4CF017-E516-4614-9931-CC2A2482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4191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0" i="0">
                <a:solidFill>
                  <a:srgbClr val="2E282A"/>
                </a:solidFill>
              </a:defRPr>
            </a:pPr>
            <a:r>
              <a:rPr sz="3750" b="0" i="0">
                <a:solidFill>
                  <a:srgbClr val="2E282A"/>
                </a:solidFill>
              </a:rPr>
              <a:t>One login.</a:t>
            </a:r>
          </a:p>
          <a:p xmlns:a="http://schemas.openxmlformats.org/drawingml/2006/main">
            <a:pPr algn="l">
              <a:defRPr sz="3750" b="0" i="0">
                <a:solidFill>
                  <a:srgbClr val="2E282A"/>
                </a:solidFill>
              </a:defRPr>
            </a:pPr>
            <a:r>
              <a:rPr sz="3750" b="0" i="0">
                <a:solidFill>
                  <a:srgbClr val="2E282A"/>
                </a:solidFill>
              </a:rPr>
              <a:t>The whole picture.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4A7980-EB62-495E-A22C-E38BDA50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C6265"/>
                </a:solidFill>
              </a:defRPr>
            </a:pPr>
            <a:r>
              <a:rPr sz="1500" b="0" i="0">
                <a:solidFill>
                  <a:srgbClr val="6C6265"/>
                </a:solidFill>
              </a:rPr>
              <a:t>Priority:One reads the systems students already trust. No second planner to maintain.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BB6077-C9D8-4325-A226-7738CC4A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1952625" cy="2857500"/>
          </a:xfrm>
          <a:prstGeom xmlns:a="http://schemas.openxmlformats.org/drawingml/2006/main" prst="roundRect">
            <a:avLst>
              <a:gd name="adj" fmla="val 976"/>
            </a:avLst>
          </a:prstGeom>
          <a:solidFill xmlns:a="http://schemas.openxmlformats.org/drawingml/2006/main">
            <a:srgbClr val="F6F7F6"/>
          </a:solidFill>
          <a:ln xmlns:a="http://schemas.openxmlformats.org/drawingml/2006/main" w="9525">
            <a:solidFill>
              <a:srgbClr val="B9BDB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148C92-ABC8-4F0F-8C38-6850547E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95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5D95"/>
                </a:solidFill>
              </a:defRPr>
            </a:pPr>
            <a:r>
              <a:rPr sz="1050" b="1" i="0">
                <a:solidFill>
                  <a:srgbClr val="005D95"/>
                </a:solidFill>
              </a:rPr>
              <a:t>CAL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EF8188-09C1-437F-ADD7-FD8BDD83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76625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E282A"/>
                </a:solidFill>
              </a:defRPr>
            </a:pPr>
            <a:r>
              <a:rPr sz="1800" b="1" i="0">
                <a:solidFill>
                  <a:srgbClr val="2E282A"/>
                </a:solidFill>
              </a:rPr>
              <a:t>Google Calendar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978607-3303-4D43-9AAA-9208F499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143375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C6265"/>
                </a:solidFill>
              </a:defRPr>
            </a:pPr>
            <a:r>
              <a:rPr sz="1125" b="0" i="0">
                <a:solidFill>
                  <a:srgbClr val="6C6265"/>
                </a:solidFill>
              </a:rPr>
              <a:t>Classes, practices, appointments, life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2B872C-4AB8-445D-AB46-C4849C02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09750"/>
            <a:ext cx="1952625" cy="2857500"/>
          </a:xfrm>
          <a:prstGeom xmlns:a="http://schemas.openxmlformats.org/drawingml/2006/main" prst="roundRect">
            <a:avLst>
              <a:gd name="adj" fmla="val 976"/>
            </a:avLst>
          </a:prstGeom>
          <a:solidFill xmlns:a="http://schemas.openxmlformats.org/drawingml/2006/main">
            <a:srgbClr val="F6F7F6"/>
          </a:solidFill>
          <a:ln xmlns:a="http://schemas.openxmlformats.org/drawingml/2006/main" w="9525">
            <a:solidFill>
              <a:srgbClr val="B9BDB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C4410D-076B-40AC-BD57-676AA7AC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095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5D95"/>
                </a:solidFill>
              </a:defRPr>
            </a:pPr>
            <a:r>
              <a:rPr sz="1050" b="1" i="0">
                <a:solidFill>
                  <a:srgbClr val="005D95"/>
                </a:solidFill>
              </a:rPr>
              <a:t>CLS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7D3B16-CB19-4616-A23A-44F43D6F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476625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E282A"/>
                </a:solidFill>
              </a:defRPr>
            </a:pPr>
            <a:r>
              <a:rPr sz="1800" b="1" i="0">
                <a:solidFill>
                  <a:srgbClr val="2E282A"/>
                </a:solidFill>
              </a:rPr>
              <a:t>Google Classroom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72DCF1-B96E-4B5C-ABFD-A87B4635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143375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C6265"/>
                </a:solidFill>
              </a:defRPr>
            </a:pPr>
            <a:r>
              <a:rPr sz="1125" b="0" i="0">
                <a:solidFill>
                  <a:srgbClr val="6C6265"/>
                </a:solidFill>
              </a:rPr>
              <a:t>Assignments, due dates, course context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F32871-41B7-490A-9F9C-94B99DD6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9750"/>
            <a:ext cx="1952625" cy="2857500"/>
          </a:xfrm>
          <a:prstGeom xmlns:a="http://schemas.openxmlformats.org/drawingml/2006/main" prst="roundRect">
            <a:avLst>
              <a:gd name="adj" fmla="val 976"/>
            </a:avLst>
          </a:prstGeom>
          <a:solidFill xmlns:a="http://schemas.openxmlformats.org/drawingml/2006/main">
            <a:srgbClr val="005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982515-16FB-4C07-B045-AB89B0E3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95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6F7F6"/>
                </a:solidFill>
              </a:defRPr>
            </a:pPr>
            <a:r>
              <a:rPr sz="1050" b="1" i="0">
                <a:solidFill>
                  <a:srgbClr val="F6F7F6"/>
                </a:solidFill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59AF3F-5739-4914-96E1-B6413BC8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476625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6F7F6"/>
                </a:solidFill>
              </a:defRPr>
            </a:pPr>
            <a:r>
              <a:rPr sz="1800" b="1" i="0">
                <a:solidFill>
                  <a:srgbClr val="F6F7F6"/>
                </a:solidFill>
              </a:rPr>
              <a:t>One living schedule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254186-2C65-4841-B1C8-9D48467E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143375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CEAF2"/>
                </a:solidFill>
              </a:defRPr>
            </a:pPr>
            <a:r>
              <a:rPr sz="1125" b="0" i="0">
                <a:solidFill>
                  <a:srgbClr val="DCEAF2"/>
                </a:solidFill>
              </a:rPr>
              <a:t>Always current. Always realistic.</a:t>
            </a:r>
          </a:p>
        </p:txBody>
      </p:sp>
    </p:spTree>
    <p:extLst>
      <p:ext uri="{BB962C8B-B14F-4D97-AF65-F5344CB8AC3E}">
        <p14:creationId xmlns:p14="http://schemas.microsoft.com/office/powerpoint/2010/main" val="16286970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0E2D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ABDBAB-A3F7-441A-A7AC-F59DC80E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6F7F6"/>
                </a:solidFill>
              </a:defRPr>
            </a:pPr>
            <a:r>
              <a:rPr sz="975" b="1" i="0">
                <a:solidFill>
                  <a:srgbClr val="F6F7F6"/>
                </a:solidFill>
              </a:rPr>
              <a:t>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FDA21-88A8-422D-80FC-026B3106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05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BC018-B476-44AD-8116-369820BC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E282A"/>
                </a:solidFill>
              </a:defRPr>
            </a:pPr>
            <a:r>
              <a:rPr sz="1350" b="1" i="0">
                <a:solidFill>
                  <a:srgbClr val="2E282A"/>
                </a:solidFill>
              </a:rPr>
              <a:t>Priority:One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7601C-9556-4A53-9CF0-B28658E8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C6265"/>
                </a:solidFill>
              </a:defRPr>
            </a:pPr>
            <a:r>
              <a:rPr sz="825" b="0" i="0">
                <a:solidFill>
                  <a:srgbClr val="6C6265"/>
                </a:solidFill>
              </a:rPr>
              <a:t>04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EB6CB-4D0E-4C62-BE2E-A9292965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43372-138C-4BAF-837C-843D0E82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Hook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17B716-C216-4959-84C9-D4AC80C2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76C34-8EBF-40F5-B941-85826760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613FD-3685-4C49-97ED-56FE3B49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600D7-2FED-48E5-8A5A-1CF62498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Connect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E2C25C-9BD8-4A65-A1FC-B6FE653B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217B7-1E52-4A8F-BD0D-03349B4B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3123CB-19E3-44F6-A45D-28FEAA11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1FB864-ED36-4D1C-8CF3-B8142B7D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Replan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484032-8D95-4D5A-99CF-8FDAD039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1761B5-B0A3-4CA4-B861-1583984D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Vachan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191C27-5EE6-4429-97C4-21BC0019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CFD02E-5F4E-4049-9660-74B98897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Future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C4BAE1-17D6-46BC-9BFA-F869B9B8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E0BCEA-A062-42CC-845B-B5D919C9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Demo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BCC747-19D3-40F9-9B76-9D5B8170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76375"/>
            <a:ext cx="3905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0" i="0">
                <a:solidFill>
                  <a:srgbClr val="2E282A"/>
                </a:solidFill>
              </a:defRPr>
            </a:pPr>
            <a:r>
              <a:rPr sz="3300" b="0" i="0">
                <a:solidFill>
                  <a:srgbClr val="2E282A"/>
                </a:solidFill>
              </a:rPr>
              <a:t>It plans the work.</a:t>
            </a:r>
          </a:p>
          <a:p xmlns:a="http://schemas.openxmlformats.org/drawingml/2006/main">
            <a:pPr algn="l">
              <a:defRPr sz="3300" b="0" i="0">
                <a:solidFill>
                  <a:srgbClr val="2E282A"/>
                </a:solidFill>
              </a:defRPr>
            </a:pPr>
            <a:r>
              <a:rPr sz="3300" b="0" i="0">
                <a:solidFill>
                  <a:srgbClr val="2E282A"/>
                </a:solidFill>
              </a:rPr>
              <a:t>Not just the due date.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4239E9-73FC-4549-ADC4-FB1D04DF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361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C6265"/>
                </a:solidFill>
              </a:defRPr>
            </a:pPr>
            <a:r>
              <a:rPr sz="1500" b="0" i="0">
                <a:solidFill>
                  <a:srgbClr val="6C6265"/>
                </a:solidFill>
              </a:rPr>
              <a:t>School and sleep become fixed constraints. Every assignment gets a real work block and a one-day safety margin.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A4BD81-836C-4F0A-A345-26C9822A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143000"/>
            <a:ext cx="714375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6F7F6"/>
          </a:solidFill>
          <a:ln xmlns:a="http://schemas.openxmlformats.org/drawingml/2006/main" w="9525">
            <a:solidFill>
              <a:srgbClr val="B9BDB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CD2DA0-589B-4DF5-B652-1DEE9F44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276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E282A"/>
                </a:solidFill>
              </a:defRPr>
            </a:pPr>
            <a:r>
              <a:rPr sz="1350" b="1" i="0">
                <a:solidFill>
                  <a:srgbClr val="2E282A"/>
                </a:solidFill>
              </a:rPr>
              <a:t>This week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603F7C-77A9-4F16-BCCA-36E907D8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2954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C6265"/>
                </a:solidFill>
              </a:defRPr>
            </a:pPr>
            <a:r>
              <a:rPr sz="900" b="0" i="0">
                <a:solidFill>
                  <a:srgbClr val="6C6265"/>
                </a:solidFill>
              </a:rPr>
              <a:t>Replanned automatically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3F889D-E0B1-4918-8C51-FBF51E39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44780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MON 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2524AD-A44C-4EE8-AEFC-51CF3225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44780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TUE 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50CAEA-37D3-4CAA-96BB-40275447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4780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WED 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F7E6AF-5384-4BEF-90E7-8725DB56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44780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THU 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4C614F-1833-4CDA-871F-53835315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4780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FRI 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53FBEC-C077-4F07-B30C-A67B818D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144780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SAT 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855648-99B5-4038-B75E-6617D8B4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57350"/>
            <a:ext cx="9525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20E9F7-513D-4F35-83E2-0B80099E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657350"/>
            <a:ext cx="9525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1C89F1-20AA-48B8-BEAE-244F3408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57350"/>
            <a:ext cx="9525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4BDB23-3EB3-472A-A7FE-3D068198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57350"/>
            <a:ext cx="9525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D89869-B567-4A65-BA3C-66EBEB8B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57350"/>
            <a:ext cx="9525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4FEE5B-7770-495E-9FCE-61E1882A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1657350"/>
            <a:ext cx="9525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F40569-7927-4011-9F13-40259373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1657350"/>
            <a:ext cx="9525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B28BDA-D715-4103-81CB-F83380AE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57350"/>
            <a:ext cx="691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E27B5F-A2C9-46AC-B0B4-514BCC54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82825"/>
            <a:ext cx="691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07C933-5F8F-429E-BDDE-8E37408E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08300"/>
            <a:ext cx="691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6A53E5A-D744-4F64-9D87-97F1EEDA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33775"/>
            <a:ext cx="691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0B4DF6-BA59-486C-B0A5-5150BD88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59250"/>
            <a:ext cx="691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FF43C6E-0231-49DC-B600-2B36E930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784725"/>
            <a:ext cx="691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2AC57E-94A9-4C5A-8C42-74798849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410200"/>
            <a:ext cx="691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87C8B9-8E69-438A-95C0-0D897C3D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14500"/>
            <a:ext cx="1038225" cy="1136650"/>
          </a:xfrm>
          <a:prstGeom xmlns:a="http://schemas.openxmlformats.org/drawingml/2006/main" prst="roundRect">
            <a:avLst>
              <a:gd name="adj" fmla="val 1835"/>
            </a:avLst>
          </a:prstGeom>
          <a:solidFill xmlns:a="http://schemas.openxmlformats.org/drawingml/2006/main">
            <a:srgbClr val="D5D6D0"/>
          </a:solidFill>
          <a:ln xmlns:a="http://schemas.openxmlformats.org/drawingml/2006/main" w="9525">
            <a:solidFill>
              <a:srgbClr val="3581B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89E47D-655E-4740-ADE6-6294C006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771650"/>
            <a:ext cx="923925" cy="104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005D95"/>
                </a:solidFill>
              </a:defRPr>
            </a:pPr>
            <a:r>
              <a:rPr sz="750" b="0" i="0">
                <a:solidFill>
                  <a:srgbClr val="005D95"/>
                </a:solidFill>
              </a:rPr>
              <a:t>School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D9BC0E-FA67-4CF7-A76C-49F1E87A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714500"/>
            <a:ext cx="1038225" cy="1136650"/>
          </a:xfrm>
          <a:prstGeom xmlns:a="http://schemas.openxmlformats.org/drawingml/2006/main" prst="roundRect">
            <a:avLst>
              <a:gd name="adj" fmla="val 1835"/>
            </a:avLst>
          </a:prstGeom>
          <a:solidFill xmlns:a="http://schemas.openxmlformats.org/drawingml/2006/main">
            <a:srgbClr val="D5D6D0"/>
          </a:solidFill>
          <a:ln xmlns:a="http://schemas.openxmlformats.org/drawingml/2006/main" w="9525">
            <a:solidFill>
              <a:srgbClr val="3581B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B617A6D-CFB0-413B-842C-ECF8CEB3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71650"/>
            <a:ext cx="923925" cy="104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005D95"/>
                </a:solidFill>
              </a:defRPr>
            </a:pPr>
            <a:r>
              <a:rPr sz="750" b="0" i="0">
                <a:solidFill>
                  <a:srgbClr val="005D95"/>
                </a:solidFill>
              </a:rPr>
              <a:t>School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29F3FBA-88C7-4BE1-87B3-0F30DCF9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14500"/>
            <a:ext cx="1038225" cy="1136650"/>
          </a:xfrm>
          <a:prstGeom xmlns:a="http://schemas.openxmlformats.org/drawingml/2006/main" prst="roundRect">
            <a:avLst>
              <a:gd name="adj" fmla="val 1835"/>
            </a:avLst>
          </a:prstGeom>
          <a:solidFill xmlns:a="http://schemas.openxmlformats.org/drawingml/2006/main">
            <a:srgbClr val="D5D6D0"/>
          </a:solidFill>
          <a:ln xmlns:a="http://schemas.openxmlformats.org/drawingml/2006/main" w="9525">
            <a:solidFill>
              <a:srgbClr val="3581B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4646255-673D-454F-A81B-57961442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771650"/>
            <a:ext cx="923925" cy="104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005D95"/>
                </a:solidFill>
              </a:defRPr>
            </a:pPr>
            <a:r>
              <a:rPr sz="750" b="0" i="0">
                <a:solidFill>
                  <a:srgbClr val="005D95"/>
                </a:solidFill>
              </a:rPr>
              <a:t>School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C6BF613-8355-4C9A-9509-FCE56BBA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714500"/>
            <a:ext cx="1038225" cy="1136650"/>
          </a:xfrm>
          <a:prstGeom xmlns:a="http://schemas.openxmlformats.org/drawingml/2006/main" prst="roundRect">
            <a:avLst>
              <a:gd name="adj" fmla="val 1835"/>
            </a:avLst>
          </a:prstGeom>
          <a:solidFill xmlns:a="http://schemas.openxmlformats.org/drawingml/2006/main">
            <a:srgbClr val="D5D6D0"/>
          </a:solidFill>
          <a:ln xmlns:a="http://schemas.openxmlformats.org/drawingml/2006/main" w="9525">
            <a:solidFill>
              <a:srgbClr val="3581B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298C343-73F4-4368-91C8-ECBEEFC5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771650"/>
            <a:ext cx="923925" cy="104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005D95"/>
                </a:solidFill>
              </a:defRPr>
            </a:pPr>
            <a:r>
              <a:rPr sz="750" b="0" i="0">
                <a:solidFill>
                  <a:srgbClr val="005D95"/>
                </a:solidFill>
              </a:rPr>
              <a:t>School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7651212-ED71-4058-AE06-0420222F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14500"/>
            <a:ext cx="1038225" cy="1136650"/>
          </a:xfrm>
          <a:prstGeom xmlns:a="http://schemas.openxmlformats.org/drawingml/2006/main" prst="roundRect">
            <a:avLst>
              <a:gd name="adj" fmla="val 1835"/>
            </a:avLst>
          </a:prstGeom>
          <a:solidFill xmlns:a="http://schemas.openxmlformats.org/drawingml/2006/main">
            <a:srgbClr val="D5D6D0"/>
          </a:solidFill>
          <a:ln xmlns:a="http://schemas.openxmlformats.org/drawingml/2006/main" w="9525">
            <a:solidFill>
              <a:srgbClr val="3581B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3CC5EFF-8752-4BFB-9CDD-922DCB35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71650"/>
            <a:ext cx="923925" cy="104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005D95"/>
                </a:solidFill>
              </a:defRPr>
            </a:pPr>
            <a:r>
              <a:rPr sz="750" b="0" i="0">
                <a:solidFill>
                  <a:srgbClr val="005D95"/>
                </a:solidFill>
              </a:rPr>
              <a:t>School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38C9832-4DCA-4D3D-985D-55677C9E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90925"/>
            <a:ext cx="1038225" cy="511175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E5F1F8"/>
          </a:solidFill>
          <a:ln xmlns:a="http://schemas.openxmlformats.org/drawingml/2006/main" w="9525">
            <a:solidFill>
              <a:srgbClr val="3581B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DF6B012-2C28-4B02-8C38-1DCFFE70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48075"/>
            <a:ext cx="923925" cy="41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05D95"/>
                </a:solidFill>
              </a:defRPr>
            </a:pPr>
            <a:r>
              <a:rPr sz="750" b="1" i="0">
                <a:solidFill>
                  <a:srgbClr val="005D95"/>
                </a:solidFill>
              </a:rPr>
              <a:t>Chem lab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EE1ED60-DA25-494E-BA72-05DCA3DD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4216400"/>
            <a:ext cx="1038225" cy="511175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E5F1F8"/>
          </a:solidFill>
          <a:ln xmlns:a="http://schemas.openxmlformats.org/drawingml/2006/main" w="9525">
            <a:solidFill>
              <a:srgbClr val="3581B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BFBBEF9-E3EC-4CFF-844D-F7C6B937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273550"/>
            <a:ext cx="923925" cy="41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05D95"/>
                </a:solidFill>
              </a:defRPr>
            </a:pPr>
            <a:r>
              <a:rPr sz="750" b="1" i="0">
                <a:solidFill>
                  <a:srgbClr val="005D95"/>
                </a:solidFill>
              </a:rPr>
              <a:t>Essay draft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9F20BF7-8E1E-4FB4-84B0-B8507DC5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90925"/>
            <a:ext cx="1038225" cy="511175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E5F1F8"/>
          </a:solidFill>
          <a:ln xmlns:a="http://schemas.openxmlformats.org/drawingml/2006/main" w="9525">
            <a:solidFill>
              <a:srgbClr val="3581B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4869534-9CE6-4871-83DD-7A032CE1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48075"/>
            <a:ext cx="923925" cy="41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05D95"/>
                </a:solidFill>
              </a:defRPr>
            </a:pPr>
            <a:r>
              <a:rPr sz="750" b="1" i="0">
                <a:solidFill>
                  <a:srgbClr val="005D95"/>
                </a:solidFill>
              </a:rPr>
              <a:t>Calculus set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B695994-E8C0-4F22-AB75-9E63EFE4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841875"/>
            <a:ext cx="1038225" cy="511175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E5F1F8"/>
          </a:solidFill>
          <a:ln xmlns:a="http://schemas.openxmlformats.org/drawingml/2006/main" w="9525">
            <a:solidFill>
              <a:srgbClr val="3581B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E00B151-7A8D-4910-A0D9-18831EA2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899025"/>
            <a:ext cx="923925" cy="41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05D95"/>
                </a:solidFill>
              </a:defRPr>
            </a:pPr>
            <a:r>
              <a:rPr sz="750" b="1" i="0">
                <a:solidFill>
                  <a:srgbClr val="005D95"/>
                </a:solidFill>
              </a:rPr>
              <a:t>Essay draft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BD0EAC6-1B4C-4E8F-9464-E781FE93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16400"/>
            <a:ext cx="1038225" cy="511175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E5F1F8"/>
          </a:solidFill>
          <a:ln xmlns:a="http://schemas.openxmlformats.org/drawingml/2006/main" w="9525">
            <a:solidFill>
              <a:srgbClr val="3581B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CB471C6-B46C-4C4F-840E-F2E3A4EB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73550"/>
            <a:ext cx="923925" cy="41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05D95"/>
                </a:solidFill>
              </a:defRPr>
            </a:pPr>
            <a:r>
              <a:rPr sz="750" b="1" i="0">
                <a:solidFill>
                  <a:srgbClr val="005D95"/>
                </a:solidFill>
              </a:rPr>
              <a:t>Weekly review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0C6B943-CE2A-4E02-8B61-D992436E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590925"/>
            <a:ext cx="1038225" cy="1136650"/>
          </a:xfrm>
          <a:prstGeom xmlns:a="http://schemas.openxmlformats.org/drawingml/2006/main" prst="roundRect">
            <a:avLst>
              <a:gd name="adj" fmla="val 1835"/>
            </a:avLst>
          </a:prstGeom>
          <a:solidFill xmlns:a="http://schemas.openxmlformats.org/drawingml/2006/main">
            <a:srgbClr val="E5F1F8"/>
          </a:solidFill>
          <a:ln xmlns:a="http://schemas.openxmlformats.org/drawingml/2006/main" w="9525">
            <a:solidFill>
              <a:srgbClr val="3581B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44DD678-E7E6-4A4B-88ED-CC85A850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648075"/>
            <a:ext cx="923925" cy="104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05D95"/>
                </a:solidFill>
              </a:defRPr>
            </a:pPr>
            <a:r>
              <a:rPr sz="750" b="1" i="0">
                <a:solidFill>
                  <a:srgbClr val="005D95"/>
                </a:solidFill>
              </a:rPr>
              <a:t>One-day buffer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48C6768-65C3-4B72-BA85-29503CF8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619750"/>
            <a:ext cx="6800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C6265"/>
                </a:solidFill>
              </a:defRPr>
            </a:pPr>
            <a:r>
              <a:rPr sz="825" b="0" i="0">
                <a:solidFill>
                  <a:srgbClr val="6C6265"/>
                </a:solidFill>
              </a:rPr>
              <a:t>Sleep protected     School protected     Due one day early</a:t>
            </a:r>
          </a:p>
        </p:txBody>
      </p:sp>
    </p:spTree>
    <p:extLst>
      <p:ext uri="{BB962C8B-B14F-4D97-AF65-F5344CB8AC3E}">
        <p14:creationId xmlns:p14="http://schemas.microsoft.com/office/powerpoint/2010/main" val="11184448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5D9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4B0B52-3AFC-49F0-9E29-32A2DF0E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E282A"/>
                </a:solidFill>
              </a:defRPr>
            </a:pPr>
            <a:r>
              <a:rPr sz="975" b="1" i="0">
                <a:solidFill>
                  <a:srgbClr val="2E282A"/>
                </a:solidFill>
              </a:rPr>
              <a:t>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AF4A3-2A09-4F8C-B68F-40FBE2FB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6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7F954-E420-4D3F-99A2-5C8D2FA3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6F7F6"/>
                </a:solidFill>
              </a:defRPr>
            </a:pPr>
            <a:r>
              <a:rPr sz="1350" b="1" i="0">
                <a:solidFill>
                  <a:srgbClr val="F6F7F6"/>
                </a:solidFill>
              </a:rPr>
              <a:t>Priority:One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393ED-A0E5-41F0-9C01-730BCD31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D8D7D0"/>
                </a:solidFill>
              </a:defRPr>
            </a:pPr>
            <a:r>
              <a:rPr sz="825" b="0" i="0">
                <a:solidFill>
                  <a:srgbClr val="D8D7D0"/>
                </a:solidFill>
              </a:rPr>
              <a:t>05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FBCD3-4F08-49B7-B093-3531235C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5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9D1B9-00F2-4512-9B6B-459C586B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C6C3BE"/>
                </a:solidFill>
              </a:defRPr>
            </a:pPr>
            <a:r>
              <a:rPr sz="675" b="0" i="0">
                <a:solidFill>
                  <a:srgbClr val="C6C3BE"/>
                </a:solidFill>
              </a:rPr>
              <a:t>Hook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5A30FA-2BBA-412B-9F60-4181C335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5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392716-6E1A-4F85-8731-3F8BFF2F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C6C3BE"/>
                </a:solidFill>
              </a:defRPr>
            </a:pPr>
            <a:r>
              <a:rPr sz="675" b="0" i="0">
                <a:solidFill>
                  <a:srgbClr val="C6C3BE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31749-EC8C-421E-8963-8AE55F0B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5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BC79CE-3DF7-4B90-8364-B2F9262E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C6C3BE"/>
                </a:solidFill>
              </a:defRPr>
            </a:pPr>
            <a:r>
              <a:rPr sz="675" b="0" i="0">
                <a:solidFill>
                  <a:srgbClr val="C6C3BE"/>
                </a:solidFill>
              </a:rPr>
              <a:t>Connect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897227-B4F3-4847-8320-658C8487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5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8C3F83-0581-4160-AA52-01D24F9F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C6C3BE"/>
                </a:solidFill>
              </a:defRPr>
            </a:pPr>
            <a:r>
              <a:rPr sz="675" b="0" i="0">
                <a:solidFill>
                  <a:srgbClr val="C6C3BE"/>
                </a:solidFill>
              </a:rPr>
              <a:t>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846654-927A-4987-8EAC-2793CB8E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95EF61-0EFF-43CD-923E-1CBBA1D3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C6C3BE"/>
                </a:solidFill>
              </a:defRPr>
            </a:pPr>
            <a:r>
              <a:rPr sz="675" b="0" i="0">
                <a:solidFill>
                  <a:srgbClr val="C6C3BE"/>
                </a:solidFill>
              </a:rPr>
              <a:t>Replan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B9D4D2-7754-42DE-8B2F-18A57B32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5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B29038-FF64-4DBE-B5EB-1EE50F35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C6C3BE"/>
                </a:solidFill>
              </a:defRPr>
            </a:pPr>
            <a:r>
              <a:rPr sz="675" b="0" i="0">
                <a:solidFill>
                  <a:srgbClr val="C6C3BE"/>
                </a:solidFill>
              </a:rPr>
              <a:t>Vachan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416E9C-D243-4B66-9ACF-D8F9F9D6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5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EB1BD3-FC84-42A1-8404-2EA478EB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C6C3BE"/>
                </a:solidFill>
              </a:defRPr>
            </a:pPr>
            <a:r>
              <a:rPr sz="675" b="0" i="0">
                <a:solidFill>
                  <a:srgbClr val="C6C3BE"/>
                </a:solidFill>
              </a:rPr>
              <a:t>Future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F25BAD-F15B-458E-89FC-5A9E0287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5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803C8C-2445-444F-B47E-79268E17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C6C3BE"/>
                </a:solidFill>
              </a:defRPr>
            </a:pPr>
            <a:r>
              <a:rPr sz="675" b="0" i="0">
                <a:solidFill>
                  <a:srgbClr val="C6C3BE"/>
                </a:solidFill>
              </a:rPr>
              <a:t>Demo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A9AAA2-C137-4D97-9A2E-0B31E1CA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8DFEC"/>
                </a:solidFill>
              </a:defRPr>
            </a:pPr>
            <a:r>
              <a:rPr sz="1200" b="0" i="0">
                <a:solidFill>
                  <a:srgbClr val="C8DFEC"/>
                </a:solidFill>
              </a:rPr>
              <a:t>Then Thursday changes.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A6BBB9-8F7E-4C83-952A-34D0FA80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590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0" i="0">
                <a:solidFill>
                  <a:srgbClr val="F6F7F6"/>
                </a:solidFill>
              </a:defRPr>
            </a:pPr>
            <a:r>
              <a:rPr sz="4350" b="0" i="0">
                <a:solidFill>
                  <a:srgbClr val="F6F7F6"/>
                </a:solidFill>
              </a:rPr>
              <a:t>The schedule moves.</a:t>
            </a:r>
          </a:p>
          <a:p xmlns:a="http://schemas.openxmlformats.org/drawingml/2006/main">
            <a:pPr algn="l">
              <a:defRPr sz="4350" b="0" i="0">
                <a:solidFill>
                  <a:srgbClr val="F6F7F6"/>
                </a:solidFill>
              </a:defRPr>
            </a:pPr>
            <a:r>
              <a:rPr sz="4350" b="0" i="0">
                <a:solidFill>
                  <a:srgbClr val="F6F7F6"/>
                </a:solidFill>
              </a:rPr>
              <a:t>The priorities don’t.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A1E708-16D5-4E5E-9DCB-353F7081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A8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23D0CC-C1DE-4A88-A384-9D74CDA5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6F7F6"/>
                </a:solidFill>
              </a:defRPr>
            </a:pPr>
            <a:r>
              <a:rPr sz="1800" b="1" i="0">
                <a:solidFill>
                  <a:srgbClr val="F6F7F6"/>
                </a:solidFill>
              </a:rPr>
              <a:t>3:00 PM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D64DAB-E59F-41A3-895D-ABCAD4C8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95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6F7F6"/>
                </a:solidFill>
              </a:defRPr>
            </a:pPr>
            <a:r>
              <a:rPr sz="1650" b="1" i="0">
                <a:solidFill>
                  <a:srgbClr val="F6F7F6"/>
                </a:solidFill>
              </a:rPr>
              <a:t>Dentist appointment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37A372-9382-41B7-8E1A-1382B105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8DFEC"/>
                </a:solidFill>
              </a:defRPr>
            </a:pPr>
            <a:r>
              <a:rPr sz="1125" b="0" i="0">
                <a:solidFill>
                  <a:srgbClr val="C8DFEC"/>
                </a:solidFill>
              </a:rPr>
              <a:t>New calendar event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30DEC4-A926-427F-A083-ED763105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0525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A8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A38FB5-0C94-4173-9ABC-8D3D0411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95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6F7F6"/>
                </a:solidFill>
              </a:defRPr>
            </a:pPr>
            <a:r>
              <a:rPr sz="1800" b="1" i="0">
                <a:solidFill>
                  <a:srgbClr val="F6F7F6"/>
                </a:solidFill>
              </a:rPr>
              <a:t>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B84BE5-5F4E-4B0E-B258-4D2131B5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95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6F7F6"/>
                </a:solidFill>
              </a:defRPr>
            </a:pPr>
            <a:r>
              <a:rPr sz="1650" b="1" i="0">
                <a:solidFill>
                  <a:srgbClr val="F6F7F6"/>
                </a:solidFill>
              </a:rPr>
              <a:t>blocks reconsidered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B81D9F-D9E6-4566-AF9B-5BC4204A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914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8DFEC"/>
                </a:solidFill>
              </a:defRPr>
            </a:pPr>
            <a:r>
              <a:rPr sz="1125" b="0" i="0">
                <a:solidFill>
                  <a:srgbClr val="C8DFEC"/>
                </a:solidFill>
              </a:rPr>
              <a:t>Best open slots found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365A6D-B7F6-4D36-99F9-D552527C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0525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7A8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3A801B-CD4A-4293-B3D1-1CC6F36F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95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6F7F6"/>
                </a:solidFill>
              </a:defRPr>
            </a:pPr>
            <a:r>
              <a:rPr sz="1800" b="1" i="0">
                <a:solidFill>
                  <a:srgbClr val="F6F7F6"/>
                </a:solidFill>
              </a:rPr>
              <a:t>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FD49B5-956D-49F5-ABD9-8AD1AFFB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495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6F7F6"/>
                </a:solidFill>
              </a:defRPr>
            </a:pPr>
            <a:r>
              <a:rPr sz="1650" b="1" i="0">
                <a:solidFill>
                  <a:srgbClr val="F6F7F6"/>
                </a:solidFill>
              </a:rPr>
              <a:t>deadlines at risk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03BEFD-7718-4A5D-BDCE-FA5D22EE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14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8DFEC"/>
                </a:solidFill>
              </a:defRPr>
            </a:pPr>
            <a:r>
              <a:rPr sz="1125" b="0" i="0">
                <a:solidFill>
                  <a:srgbClr val="C8DFEC"/>
                </a:solidFill>
              </a:rPr>
              <a:t>Sleep and school untouched</a:t>
            </a:r>
          </a:p>
        </p:txBody>
      </p:sp>
    </p:spTree>
    <p:extLst>
      <p:ext uri="{BB962C8B-B14F-4D97-AF65-F5344CB8AC3E}">
        <p14:creationId xmlns:p14="http://schemas.microsoft.com/office/powerpoint/2010/main" val="67210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0E2D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03C7AA-9348-45E8-A145-D607C0AA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6F7F6"/>
                </a:solidFill>
              </a:defRPr>
            </a:pPr>
            <a:r>
              <a:rPr sz="975" b="1" i="0">
                <a:solidFill>
                  <a:srgbClr val="F6F7F6"/>
                </a:solidFill>
              </a:rPr>
              <a:t>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AA4E29-18B2-4648-8BB0-EAF38F21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05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AAA38-F0B5-4CD3-886B-51BB6E16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E282A"/>
                </a:solidFill>
              </a:defRPr>
            </a:pPr>
            <a:r>
              <a:rPr sz="1350" b="1" i="0">
                <a:solidFill>
                  <a:srgbClr val="2E282A"/>
                </a:solidFill>
              </a:rPr>
              <a:t>Priority:One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608BE-793A-4304-B4F8-0A2A96D9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C6265"/>
                </a:solidFill>
              </a:defRPr>
            </a:pPr>
            <a:r>
              <a:rPr sz="825" b="0" i="0">
                <a:solidFill>
                  <a:srgbClr val="6C6265"/>
                </a:solidFill>
              </a:rPr>
              <a:t>06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3C976-003F-4987-92DA-EB9BD101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024DC-C844-46B4-8C86-C8F62CAD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Hook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8645F-638D-49B7-AAEA-92082AD6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C1FABD-A8BD-4E03-B00B-2E8BF092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7991D-22A1-4820-B6D0-7D2DC4D1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72F8F9-42F7-4253-85D5-FCB28716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Connect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31061-E6B4-4B8B-8D62-52B2A402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7A5B9A-1FD5-41AB-A158-F3052092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7362F2-8CCB-4E2C-8FD8-70246861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919B4B-2033-468A-A268-6C21B699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Replan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727509-7297-401E-A443-C54CE3D7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6B1953-61CA-49C9-B1DC-A1915A92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Vachan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FD9D69-3C74-4189-890B-96BAE2BE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9F0D00-CC43-46D7-AD62-2F66B784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Future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670AF7-014D-47FE-AD13-CBCBE3A1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21BFDC-3868-4C22-A006-3E5C9867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Demo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E3BF04-1EFC-4F12-BE97-00DC39FF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4191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0" i="0">
                <a:solidFill>
                  <a:srgbClr val="2E282A"/>
                </a:solidFill>
              </a:defRPr>
            </a:pPr>
            <a:r>
              <a:rPr sz="3300" b="0" i="0">
                <a:solidFill>
                  <a:srgbClr val="2E282A"/>
                </a:solidFill>
              </a:rPr>
              <a:t>A plan for the work.</a:t>
            </a:r>
          </a:p>
          <a:p xmlns:a="http://schemas.openxmlformats.org/drawingml/2006/main">
            <a:pPr algn="l">
              <a:defRPr sz="3300" b="0" i="0">
                <a:solidFill>
                  <a:srgbClr val="2E282A"/>
                </a:solidFill>
              </a:defRPr>
            </a:pPr>
            <a:r>
              <a:rPr sz="3300" b="0" i="0">
                <a:solidFill>
                  <a:srgbClr val="2E282A"/>
                </a:solidFill>
              </a:rPr>
              <a:t>A person in your corner.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3C4285-FF13-4DC7-B389-BA7B909B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C6265"/>
                </a:solidFill>
              </a:defRPr>
            </a:pPr>
            <a:r>
              <a:rPr sz="1500" b="0" i="0">
                <a:solidFill>
                  <a:srgbClr val="6C6265"/>
                </a:solidFill>
              </a:rPr>
              <a:t>Vachan notices pressure before it becomes panic—and can adjust the real schedule from the conversation.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C2FCEE-658E-4477-83BC-C56CDA50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28750"/>
            <a:ext cx="4953000" cy="904875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5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59CD5D-8FE3-4B8E-BCAD-8DA2F90C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600200"/>
            <a:ext cx="32385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E2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6A8B12-3EB5-4CCB-82F6-D3278DED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6192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F6F7F6"/>
                </a:solidFill>
              </a:defRPr>
            </a:pPr>
            <a:r>
              <a:rPr sz="1500" b="0" i="1">
                <a:solidFill>
                  <a:srgbClr val="F6F7F6"/>
                </a:solidFill>
              </a:rPr>
              <a:t>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6AD850-EAF8-4B2A-9F52-358F1E5A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38300"/>
            <a:ext cx="4076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E282A"/>
                </a:solidFill>
              </a:defRPr>
            </a:pPr>
            <a:r>
              <a:rPr sz="1275" b="0" i="0">
                <a:solidFill>
                  <a:srgbClr val="2E282A"/>
                </a:solidFill>
              </a:rPr>
              <a:t>I noticed three assignments land on Friday. Want me to spread the work out?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72F002-5347-4D6B-9781-29DEE032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9875"/>
            <a:ext cx="3524250" cy="904875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D5D6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704B04-8586-4A0C-B280-CC7A3EF2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19425"/>
            <a:ext cx="3067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E282A"/>
                </a:solidFill>
              </a:defRPr>
            </a:pPr>
            <a:r>
              <a:rPr sz="1275" b="0" i="0">
                <a:solidFill>
                  <a:srgbClr val="2E282A"/>
                </a:solidFill>
              </a:rPr>
              <a:t>Yes, please. Keep Thursday lighter.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37C639-00B0-4037-B9A5-CCEE7043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91000"/>
            <a:ext cx="4953000" cy="904875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5F1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2DCE6E-8B6D-421B-A019-40BEF795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362450"/>
            <a:ext cx="32385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E2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E07B62-E32E-43C6-901B-24DF703B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3815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F6F7F6"/>
                </a:solidFill>
              </a:defRPr>
            </a:pPr>
            <a:r>
              <a:rPr sz="1500" b="0" i="1">
                <a:solidFill>
                  <a:srgbClr val="F6F7F6"/>
                </a:solidFill>
              </a:rPr>
              <a:t>v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CC143D-1DDD-49B4-BB37-64695108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00550"/>
            <a:ext cx="4076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E282A"/>
                </a:solidFill>
              </a:defRPr>
            </a:pPr>
            <a:r>
              <a:rPr sz="1275" b="0" i="0">
                <a:solidFill>
                  <a:srgbClr val="2E282A"/>
                </a:solidFill>
              </a:rPr>
              <a:t>Done. Your essay moved to Sunday, and you’re still a day ahead.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8D4676-BF46-473C-A87F-6597227F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6197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5D95"/>
                </a:solidFill>
              </a:defRPr>
            </a:pPr>
            <a:r>
              <a:rPr sz="1050" b="1" i="0">
                <a:solidFill>
                  <a:srgbClr val="005D95"/>
                </a:solidFill>
              </a:rPr>
              <a:t>Schedule updated from conversation</a:t>
            </a:r>
          </a:p>
        </p:txBody>
      </p:sp>
    </p:spTree>
    <p:extLst>
      <p:ext uri="{BB962C8B-B14F-4D97-AF65-F5344CB8AC3E}">
        <p14:creationId xmlns:p14="http://schemas.microsoft.com/office/powerpoint/2010/main" val="3456769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0E2D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AD86B0-C39F-454F-8B57-24926301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6F7F6"/>
                </a:solidFill>
              </a:defRPr>
            </a:pPr>
            <a:r>
              <a:rPr sz="975" b="1" i="0">
                <a:solidFill>
                  <a:srgbClr val="F6F7F6"/>
                </a:solidFill>
              </a:rPr>
              <a:t>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4354F-DEDD-4A1F-8E6C-0811C150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05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2743F-980C-49B0-B590-CDCEB0DA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E282A"/>
                </a:solidFill>
              </a:defRPr>
            </a:pPr>
            <a:r>
              <a:rPr sz="1350" b="1" i="0">
                <a:solidFill>
                  <a:srgbClr val="2E282A"/>
                </a:solidFill>
              </a:rPr>
              <a:t>Priority:One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55C7BC-249C-456A-9BA4-36610BC8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C6265"/>
                </a:solidFill>
              </a:defRPr>
            </a:pPr>
            <a:r>
              <a:rPr sz="825" b="0" i="0">
                <a:solidFill>
                  <a:srgbClr val="6C6265"/>
                </a:solidFill>
              </a:rPr>
              <a:t>07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E0984-077F-4A39-A311-A8DE6679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888E5-78F6-4BF8-8AF7-6D41B1A2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Hook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CD1867-0301-4B7E-8064-D4887306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03ECD-96E9-4D4C-8D15-078E01AA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007B9-0B4F-473A-8C96-A730F4C4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A9111-C83E-4E00-A71D-BDE30330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Connect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526FB5-9DF3-40E1-A433-A27DB74E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E22263-F863-4069-9ADB-523FE6E1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54BE2C-9FB3-4EC3-A82D-0AB51579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27B748-50E8-45CC-83D7-127EA470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Replan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9C58D8-A2EC-4FB4-BEA9-F2E6FF02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3A5512-C70C-4641-9380-0C2BBD5B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Vachan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99F3B5-976E-4B2D-AA07-79B0AB57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5AA738-D079-45C2-9F51-32B92183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Future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EC499C-5580-4C5C-8B24-8467142A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653B50-ABFB-4C9F-8ECC-2897E5A6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C6265"/>
                </a:solidFill>
              </a:defRPr>
            </a:pPr>
            <a:r>
              <a:rPr sz="675" b="0" i="0">
                <a:solidFill>
                  <a:srgbClr val="6C6265"/>
                </a:solidFill>
              </a:rPr>
              <a:t>Demo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3562CA-8FE5-4360-A76B-7FFF2155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23825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650" b="0" i="0">
                <a:solidFill>
                  <a:srgbClr val="2E282A"/>
                </a:solidFill>
              </a:defRPr>
            </a:pPr>
            <a:r>
              <a:rPr sz="4650" b="0" i="0">
                <a:solidFill>
                  <a:srgbClr val="2E282A"/>
                </a:solidFill>
              </a:rPr>
              <a:t>Google Classroom</a:t>
            </a:r>
          </a:p>
          <a:p xmlns:a="http://schemas.openxmlformats.org/drawingml/2006/main">
            <a:pPr algn="ctr">
              <a:defRPr sz="4650" b="0" i="0">
                <a:solidFill>
                  <a:srgbClr val="2E282A"/>
                </a:solidFill>
              </a:defRPr>
            </a:pPr>
            <a:r>
              <a:rPr sz="4650" b="0" i="0">
                <a:solidFill>
                  <a:srgbClr val="2E282A"/>
                </a:solidFill>
              </a:rPr>
              <a:t>is the start.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F762F1-DCA2-45EB-BF2E-0EA0FA12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4800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6C6265"/>
                </a:solidFill>
              </a:defRPr>
            </a:pPr>
            <a:r>
              <a:rPr sz="1500" b="0" i="0">
                <a:solidFill>
                  <a:srgbClr val="6C6265"/>
                </a:solidFill>
              </a:rPr>
              <a:t>The scheduling engine is platform-agnostic. The next step is every student, whatever system their school chose.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7166F7-C863-4776-9DB2-1090185E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38625"/>
            <a:ext cx="1952625" cy="571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7F6"/>
          </a:solidFill>
          <a:ln xmlns:a="http://schemas.openxmlformats.org/drawingml/2006/main" w="9525">
            <a:solidFill>
              <a:srgbClr val="B9BDB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4E473A-D820-49B0-8157-70ECE3A7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100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E282A"/>
                </a:solidFill>
              </a:defRPr>
            </a:pPr>
            <a:r>
              <a:rPr sz="1350" b="1" i="0">
                <a:solidFill>
                  <a:srgbClr val="2E282A"/>
                </a:solidFill>
              </a:rPr>
              <a:t>Canvas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E86843-01DB-4250-9B77-74199A55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38625"/>
            <a:ext cx="1952625" cy="571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7F6"/>
          </a:solidFill>
          <a:ln xmlns:a="http://schemas.openxmlformats.org/drawingml/2006/main" w="9525">
            <a:solidFill>
              <a:srgbClr val="B9BDB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33D1EA-FC0C-45D3-8579-0625E7F1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100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E282A"/>
                </a:solidFill>
              </a:defRPr>
            </a:pPr>
            <a:r>
              <a:rPr sz="1350" b="1" i="0">
                <a:solidFill>
                  <a:srgbClr val="2E282A"/>
                </a:solidFill>
              </a:rPr>
              <a:t>Schoology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A38A5-E5E9-4131-AF54-0D853357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38625"/>
            <a:ext cx="1952625" cy="571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7F6"/>
          </a:solidFill>
          <a:ln xmlns:a="http://schemas.openxmlformats.org/drawingml/2006/main" w="9525">
            <a:solidFill>
              <a:srgbClr val="B9BDB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C4F4F6-0966-4987-B299-C6D89848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00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E282A"/>
                </a:solidFill>
              </a:defRPr>
            </a:pPr>
            <a:r>
              <a:rPr sz="1350" b="1" i="0">
                <a:solidFill>
                  <a:srgbClr val="2E282A"/>
                </a:solidFill>
              </a:rPr>
              <a:t>PowerSchool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3FE1A5-FCF2-4EBA-99B3-614665B0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38625"/>
            <a:ext cx="1952625" cy="571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7F6"/>
          </a:solidFill>
          <a:ln xmlns:a="http://schemas.openxmlformats.org/drawingml/2006/main" w="9525">
            <a:solidFill>
              <a:srgbClr val="B9BDB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16A189-D194-4435-8E74-211C95AD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100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E282A"/>
                </a:solidFill>
              </a:defRPr>
            </a:pPr>
            <a:r>
              <a:rPr sz="1350" b="1" i="0">
                <a:solidFill>
                  <a:srgbClr val="2E282A"/>
                </a:solidFill>
              </a:rPr>
              <a:t>Infinite Campus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F21790-53DA-423F-AEF8-437CCEDF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3400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5D95"/>
                </a:solidFill>
              </a:defRPr>
            </a:pPr>
            <a:r>
              <a:rPr sz="1500" b="1" i="0">
                <a:solidFill>
                  <a:srgbClr val="005D95"/>
                </a:solidFill>
              </a:rPr>
              <a:t>One agentic planning layer across school, calendar, and life.</a:t>
            </a:r>
          </a:p>
        </p:txBody>
      </p:sp>
    </p:spTree>
    <p:extLst>
      <p:ext uri="{BB962C8B-B14F-4D97-AF65-F5344CB8AC3E}">
        <p14:creationId xmlns:p14="http://schemas.microsoft.com/office/powerpoint/2010/main" val="3386206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E2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242BCA-1CE2-42D2-956D-35CD515B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E282A"/>
                </a:solidFill>
              </a:defRPr>
            </a:pPr>
            <a:r>
              <a:rPr sz="975" b="1" i="0">
                <a:solidFill>
                  <a:srgbClr val="2E282A"/>
                </a:solidFill>
              </a:rPr>
              <a:t>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69305-ECA0-4ECD-852F-EC6995AE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6670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6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A442D-49A6-41AA-A848-2B5DC1F4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6F7F6"/>
                </a:solidFill>
              </a:defRPr>
            </a:pPr>
            <a:r>
              <a:rPr sz="1350" b="1" i="0">
                <a:solidFill>
                  <a:srgbClr val="F6F7F6"/>
                </a:solidFill>
              </a:rPr>
              <a:t>Priority:One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DC2CB-C46A-4B07-AFFE-B00B9942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D8D7D0"/>
                </a:solidFill>
              </a:defRPr>
            </a:pPr>
            <a:r>
              <a:rPr sz="825" b="0" i="0">
                <a:solidFill>
                  <a:srgbClr val="D8D7D0"/>
                </a:solidFill>
              </a:rPr>
              <a:t>08 /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EE768-2345-4F7D-98A5-38EE748D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5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085DD-8015-419B-9D01-23F1FD7B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C6C3BE"/>
                </a:solidFill>
              </a:defRPr>
            </a:pPr>
            <a:r>
              <a:rPr sz="675" b="0" i="0">
                <a:solidFill>
                  <a:srgbClr val="C6C3BE"/>
                </a:solidFill>
              </a:rPr>
              <a:t>Hook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0BD55-DC13-483D-B540-910C212E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5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0C40D3-F204-43E6-8CAB-9B744FF1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C6C3BE"/>
                </a:solidFill>
              </a:defRPr>
            </a:pPr>
            <a:r>
              <a:rPr sz="675" b="0" i="0">
                <a:solidFill>
                  <a:srgbClr val="C6C3BE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EAB759-B2D6-4DB5-B2AE-7182A147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5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EF098-1D44-401E-96E1-D41DA229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C6C3BE"/>
                </a:solidFill>
              </a:defRPr>
            </a:pPr>
            <a:r>
              <a:rPr sz="675" b="0" i="0">
                <a:solidFill>
                  <a:srgbClr val="C6C3BE"/>
                </a:solidFill>
              </a:rPr>
              <a:t>Connect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169B7C-4C72-462E-ABA3-5D219FA2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5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EFF76E-6EF5-4781-8B8E-487399A2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C6C3BE"/>
                </a:solidFill>
              </a:defRPr>
            </a:pPr>
            <a:r>
              <a:rPr sz="675" b="0" i="0">
                <a:solidFill>
                  <a:srgbClr val="C6C3BE"/>
                </a:solidFill>
              </a:rPr>
              <a:t>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C3E6C0-6424-4077-B40E-59CF7DDE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5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7F9455-A359-4D0F-BF54-669CA351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C6C3BE"/>
                </a:solidFill>
              </a:defRPr>
            </a:pPr>
            <a:r>
              <a:rPr sz="675" b="0" i="0">
                <a:solidFill>
                  <a:srgbClr val="C6C3BE"/>
                </a:solidFill>
              </a:rPr>
              <a:t>Replan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89A6A2-44B3-4013-A151-954F6670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5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C5579F-B8E8-400F-9437-F3DEF7F0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C6C3BE"/>
                </a:solidFill>
              </a:defRPr>
            </a:pPr>
            <a:r>
              <a:rPr sz="675" b="0" i="0">
                <a:solidFill>
                  <a:srgbClr val="C6C3BE"/>
                </a:solidFill>
              </a:rPr>
              <a:t>Vachan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78BBAD-11C6-4127-BC41-B2BF5A7B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5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E063AF-629A-40C6-9B3B-363F801F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C6C3BE"/>
                </a:solidFill>
              </a:defRPr>
            </a:pPr>
            <a:r>
              <a:rPr sz="675" b="0" i="0">
                <a:solidFill>
                  <a:srgbClr val="C6C3BE"/>
                </a:solidFill>
              </a:rPr>
              <a:t>Future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64CE9A-4488-4BF6-89F4-660D1BC2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496050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CB3DF2-FA8A-4562-8436-53DBDA34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5722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C6C3BE"/>
                </a:solidFill>
              </a:defRPr>
            </a:pPr>
            <a:r>
              <a:rPr sz="675" b="0" i="0">
                <a:solidFill>
                  <a:srgbClr val="C6C3BE"/>
                </a:solidFill>
              </a:rPr>
              <a:t>Demo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7B00E1-C24F-45B8-AB39-B060826B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76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581B8"/>
                </a:solidFill>
              </a:defRPr>
            </a:pPr>
            <a:r>
              <a:rPr sz="1200" b="1" i="0">
                <a:solidFill>
                  <a:srgbClr val="3581B8"/>
                </a:solidFill>
              </a:rPr>
              <a:t>The plan is already moving.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E3884E-939E-4399-A021-38D445B2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43125"/>
            <a:ext cx="742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400" b="0" i="0">
                <a:solidFill>
                  <a:srgbClr val="F6F7F6"/>
                </a:solidFill>
              </a:defRPr>
            </a:pPr>
            <a:r>
              <a:rPr sz="5400" b="0" i="0">
                <a:solidFill>
                  <a:srgbClr val="F6F7F6"/>
                </a:solidFill>
              </a:rPr>
              <a:t>Let us show you.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DDCE5B-8595-467C-8BA1-06C0B115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81375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D9D7D1"/>
                </a:solidFill>
              </a:defRPr>
            </a:pPr>
            <a:r>
              <a:rPr sz="1500" b="0" i="0">
                <a:solidFill>
                  <a:srgbClr val="D9D7D1"/>
                </a:solidFill>
              </a:rPr>
              <a:t>From Google sign-in to a complete week—and one real-time replan.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8CBA7F-D76A-4578-98C1-D0F7CA9B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33875"/>
            <a:ext cx="3143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3581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38EE87-1D77-416F-85B9-AD487B11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5243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START THE LIVE DEMO  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ADAE5E-131A-4BE7-99EE-1B14A2B6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572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AAA6A1"/>
                </a:solidFill>
              </a:defRPr>
            </a:pPr>
            <a:r>
              <a:rPr sz="975" b="0" i="0">
                <a:solidFill>
                  <a:srgbClr val="AAA6A1"/>
                </a:solidFill>
              </a:rPr>
              <a:t>Built with care by Tarun Devarajan &amp; Jovanny Shek</a:t>
            </a:r>
          </a:p>
        </p:txBody>
      </p:sp>
    </p:spTree>
    <p:extLst>
      <p:ext uri="{BB962C8B-B14F-4D97-AF65-F5344CB8AC3E}">
        <p14:creationId xmlns:p14="http://schemas.microsoft.com/office/powerpoint/2010/main" val="9209795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2026-07-11T22:01:10.2560000Z</dcterms:created>
  <dcterms:modified xsi:type="dcterms:W3CDTF">2026-07-11T22:01:10.2560000Z</dcterms:modified>
</coreProperties>
</file>